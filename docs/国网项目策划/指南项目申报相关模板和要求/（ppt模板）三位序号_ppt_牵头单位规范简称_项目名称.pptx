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3" r:id="rId3"/>
  </p:sldMasterIdLst>
  <p:notesMasterIdLst>
    <p:notesMasterId r:id="rId5"/>
  </p:notesMasterIdLst>
  <p:handoutMasterIdLst>
    <p:handoutMasterId r:id="rId10"/>
  </p:handoutMasterIdLst>
  <p:sldIdLst>
    <p:sldId id="3779" r:id="rId4"/>
    <p:sldId id="3810" r:id="rId6"/>
    <p:sldId id="3811" r:id="rId7"/>
    <p:sldId id="3812" r:id="rId8"/>
    <p:sldId id="3813" r:id="rId9"/>
  </p:sldIdLst>
  <p:sldSz cx="9906000" cy="6858000" type="A4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44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0066"/>
    <a:srgbClr val="6B8B94"/>
    <a:srgbClr val="0000CC"/>
    <a:srgbClr val="FFFFCC"/>
    <a:srgbClr val="CCFF99"/>
    <a:srgbClr val="99CC00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1" autoAdjust="0"/>
    <p:restoredTop sz="91514" autoAdjust="0"/>
  </p:normalViewPr>
  <p:slideViewPr>
    <p:cSldViewPr showGuides="1">
      <p:cViewPr varScale="1">
        <p:scale>
          <a:sx n="106" d="100"/>
          <a:sy n="106" d="100"/>
        </p:scale>
        <p:origin x="1794" y="84"/>
      </p:cViewPr>
      <p:guideLst>
        <p:guide orient="horz" pos="2120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956" y="-90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96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3C06E5C-B80F-4C2A-B677-4BA7B8382DAE}" type="datetime1">
              <a:rPr lang="en-US"/>
            </a:fld>
            <a:endParaRPr lang="en-US" altLang="zh-CN"/>
          </a:p>
        </p:txBody>
      </p:sp>
      <p:sp>
        <p:nvSpPr>
          <p:cNvPr id="1496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96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0" y="9220200"/>
            <a:ext cx="679608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D902478-41EA-455C-B807-3580B283F62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1DD6393-DCF4-4D3E-A2E7-E7BDD4AAF07C}" type="datetime1">
              <a:rPr lang="en-US"/>
            </a:fld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9613" y="744538"/>
            <a:ext cx="537686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34A02CD-85F3-45B5-957D-3D0E02B3017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399" tIns="45699" rIns="91399" bIns="45699"/>
          <a:lstStyle/>
          <a:p>
            <a:pPr eaLnBrk="1" hangingPunct="1"/>
            <a:endParaRPr lang="zh-CN" altLang="en-US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>
              <a:latin typeface="Arial" panose="020B0604020202020204" pitchFamily="34" charset="0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8D0A75-3580-4196-AAE3-F3A3B4780914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>
              <a:latin typeface="Arial" panose="020B0604020202020204" pitchFamily="34" charset="0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8D0A75-3580-4196-AAE3-F3A3B4780914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>
              <a:latin typeface="Arial" panose="020B0604020202020204" pitchFamily="34" charset="0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8D0A75-3580-4196-AAE3-F3A3B4780914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>
              <a:latin typeface="Arial" panose="020B0604020202020204" pitchFamily="34" charset="0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8D0A75-3580-4196-AAE3-F3A3B4780914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323E6-DD0C-46BE-82CB-D15273A762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84D8B3-7AB2-4556-A1E8-D20D4809CA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ED31F-9D95-4B30-9E33-48EBB5407E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F6C92-FA32-4FB5-822A-8ACBB79FB5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1703F-EF5D-4B8A-B172-383413A06E9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59BC5-5F8D-41FE-8DDA-045D6B42A4C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0265B-BAEF-4DA7-A36A-273BCF52CE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C3170-AE3C-47D2-91F2-7273ED2947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00687-04D9-48C9-911A-130E2FA5EE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78C32-64E1-47A6-9E40-B273353B44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D8FD8-FBD4-4B3D-B3AE-5BCCDAEF30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9DD2A-7208-459F-AF25-30AA9A1017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600200"/>
            <a:ext cx="43815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938588"/>
            <a:ext cx="43815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0B4E0-BC0D-419C-A44F-3E7DAE5FF8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850A9-D46A-4C64-B183-18915F81BA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E4D8-C238-49C7-B42A-023472D6D3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AB0AC-F3FC-43BD-A71B-527E3B1FCD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08875-CB6A-444E-8390-269D1CC76D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03D46-A4E4-4FA5-B19E-8BABC04557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B64AA-3AD0-44A6-80B3-628007D94F4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98AA3-14BF-41BD-876D-8339EFA7D1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641F4-A935-48C4-8054-3DD301C165A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DDDA6-6229-497B-92D8-A04D2CDD76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CE2CE-1762-443C-B440-84BD89F39B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07656-E432-4A59-AB34-A24B2052812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AD677-7487-41DE-BF86-3746D9FECE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7249E-8013-40CD-8337-CDBC1DDB79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600200"/>
            <a:ext cx="43815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938588"/>
            <a:ext cx="43815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91748-FD21-4FDA-BDCE-FDEC11D648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E94DC-1034-43AE-BD68-9C28426ACE6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882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56500" y="6397625"/>
            <a:ext cx="23114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6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727D875-CDA9-48C4-9814-C066C664CEC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882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56500" y="6397625"/>
            <a:ext cx="23114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F5B4F66-96F6-487B-9BA5-05C7951C3E7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bg2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 txBox="1">
            <a:spLocks noChangeArrowheads="1"/>
          </p:cNvSpPr>
          <p:nvPr/>
        </p:nvSpPr>
        <p:spPr bwMode="auto">
          <a:xfrm>
            <a:off x="886143" y="1448435"/>
            <a:ext cx="8105775" cy="1470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/>
            <a:r>
              <a:rPr kumimoji="1" lang="zh-CN" altLang="en-US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  <a:endParaRPr kumimoji="1" lang="zh-CN" altLang="en-US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38630" y="3285490"/>
            <a:ext cx="6400800" cy="3437255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申报单位：列出全部单位，如</a:t>
            </a:r>
            <a:r>
              <a:rPr sz="24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国网xx电力、中国电科院系统内单位填写规范简称，系统外单位填写规范全称</a:t>
            </a:r>
            <a:endParaRPr sz="2400" kern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项目负责人：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（负责人所在单位）</a:t>
            </a: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  <a:r>
              <a:rPr lang="en-US" altLang="zh-CN" sz="24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</a:t>
            </a:r>
            <a:r>
              <a:rPr lang="zh-CN" altLang="en-US" sz="24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sz="24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kern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53640" y="257175"/>
            <a:ext cx="49707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国家电网公司</a:t>
            </a:r>
            <a:r>
              <a:rPr lang="en-US" altLang="zh-CN" sz="2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</a:t>
            </a:r>
            <a:r>
              <a:rPr lang="zh-CN" altLang="en-US" sz="2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年指南项目</a:t>
            </a:r>
            <a:endParaRPr lang="zh-CN" altLang="en-US" sz="28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advTm="1526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473950" y="6381750"/>
            <a:ext cx="2311400" cy="476250"/>
          </a:xfrm>
          <a:noFill/>
        </p:spPr>
        <p:txBody>
          <a:bodyPr/>
          <a:lstStyle/>
          <a:p>
            <a:fld id="{1EFA06BE-5C23-49BD-9062-66CA328C257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标题 1"/>
          <p:cNvSpPr txBox="1"/>
          <p:nvPr/>
        </p:nvSpPr>
        <p:spPr bwMode="auto">
          <a:xfrm>
            <a:off x="1447800" y="152400"/>
            <a:ext cx="7543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ctr"/>
            <a:r>
              <a:rPr kumimoji="1" lang="zh-CN" altLang="en-US">
                <a:solidFill>
                  <a:srgbClr val="0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提 纲</a:t>
            </a:r>
            <a:endParaRPr kumimoji="1" lang="zh-CN" altLang="en-US">
              <a:solidFill>
                <a:srgbClr val="0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47"/>
          <p:cNvSpPr>
            <a:spLocks noChangeShapeType="1"/>
          </p:cNvSpPr>
          <p:nvPr/>
        </p:nvSpPr>
        <p:spPr bwMode="auto">
          <a:xfrm flipV="1">
            <a:off x="2600325" y="2439988"/>
            <a:ext cx="4841875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01" name="组合 37"/>
          <p:cNvGrpSpPr/>
          <p:nvPr/>
        </p:nvGrpSpPr>
        <p:grpSpPr bwMode="auto">
          <a:xfrm>
            <a:off x="2584450" y="3644900"/>
            <a:ext cx="4857750" cy="647700"/>
            <a:chOff x="3120899" y="3530277"/>
            <a:chExt cx="4856437" cy="648071"/>
          </a:xfrm>
        </p:grpSpPr>
        <p:sp>
          <p:nvSpPr>
            <p:cNvPr id="4" name="Line 61"/>
            <p:cNvSpPr>
              <a:spLocks noChangeShapeType="1"/>
            </p:cNvSpPr>
            <p:nvPr/>
          </p:nvSpPr>
          <p:spPr bwMode="auto">
            <a:xfrm flipV="1">
              <a:off x="3136770" y="4149757"/>
              <a:ext cx="4840566" cy="285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14" name="Text Box 16"/>
            <p:cNvSpPr txBox="1">
              <a:spLocks noChangeArrowheads="1"/>
            </p:cNvSpPr>
            <p:nvPr/>
          </p:nvSpPr>
          <p:spPr bwMode="auto">
            <a:xfrm>
              <a:off x="3120899" y="3530277"/>
              <a:ext cx="4096174" cy="5838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320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三、预期成果</a:t>
              </a:r>
              <a:endParaRPr kumimoji="1" lang="zh-CN" altLang="en-US" sz="3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02" name="组合 36"/>
          <p:cNvGrpSpPr/>
          <p:nvPr/>
        </p:nvGrpSpPr>
        <p:grpSpPr bwMode="auto">
          <a:xfrm>
            <a:off x="2600325" y="2708275"/>
            <a:ext cx="4841875" cy="649288"/>
            <a:chOff x="3136266" y="2524307"/>
            <a:chExt cx="4841070" cy="648650"/>
          </a:xfrm>
        </p:grpSpPr>
        <p:sp>
          <p:nvSpPr>
            <p:cNvPr id="17" name="Line 61"/>
            <p:cNvSpPr>
              <a:spLocks noChangeShapeType="1"/>
            </p:cNvSpPr>
            <p:nvPr/>
          </p:nvSpPr>
          <p:spPr bwMode="auto">
            <a:xfrm flipV="1">
              <a:off x="3136266" y="3141238"/>
              <a:ext cx="4841070" cy="317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12" name="Text Box 16"/>
            <p:cNvSpPr txBox="1">
              <a:spLocks noChangeArrowheads="1"/>
            </p:cNvSpPr>
            <p:nvPr/>
          </p:nvSpPr>
          <p:spPr bwMode="auto">
            <a:xfrm>
              <a:off x="3145791" y="2524307"/>
              <a:ext cx="4240425" cy="5829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320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二、研究内容</a:t>
              </a:r>
              <a:endParaRPr kumimoji="1" lang="zh-CN" altLang="en-US" sz="3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03" name="组合 38"/>
          <p:cNvGrpSpPr/>
          <p:nvPr/>
        </p:nvGrpSpPr>
        <p:grpSpPr bwMode="auto">
          <a:xfrm>
            <a:off x="2609850" y="4581525"/>
            <a:ext cx="5119688" cy="647700"/>
            <a:chOff x="3146132" y="4438974"/>
            <a:chExt cx="5119235" cy="647295"/>
          </a:xfrm>
        </p:grpSpPr>
        <p:sp>
          <p:nvSpPr>
            <p:cNvPr id="24" name="Line 61"/>
            <p:cNvSpPr>
              <a:spLocks noChangeShapeType="1"/>
            </p:cNvSpPr>
            <p:nvPr/>
          </p:nvSpPr>
          <p:spPr bwMode="auto">
            <a:xfrm flipV="1">
              <a:off x="3146132" y="5086269"/>
              <a:ext cx="48319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10" name="Text Box 16"/>
            <p:cNvSpPr txBox="1">
              <a:spLocks noChangeArrowheads="1"/>
            </p:cNvSpPr>
            <p:nvPr/>
          </p:nvSpPr>
          <p:spPr bwMode="auto">
            <a:xfrm>
              <a:off x="3146134" y="4438974"/>
              <a:ext cx="5119233" cy="583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32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四、负责人及团队</a:t>
              </a:r>
              <a:endParaRPr kumimoji="1" lang="zh-CN" altLang="en-US" sz="3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04" name="组合 39"/>
          <p:cNvGrpSpPr/>
          <p:nvPr/>
        </p:nvGrpSpPr>
        <p:grpSpPr bwMode="auto">
          <a:xfrm>
            <a:off x="2609850" y="5516563"/>
            <a:ext cx="5264150" cy="649287"/>
            <a:chOff x="3146114" y="5387570"/>
            <a:chExt cx="5263269" cy="648581"/>
          </a:xfrm>
        </p:grpSpPr>
        <p:sp>
          <p:nvSpPr>
            <p:cNvPr id="30" name="Line 61"/>
            <p:cNvSpPr>
              <a:spLocks noChangeShapeType="1"/>
            </p:cNvSpPr>
            <p:nvPr/>
          </p:nvSpPr>
          <p:spPr bwMode="auto">
            <a:xfrm>
              <a:off x="3146114" y="6021880"/>
              <a:ext cx="4831541" cy="14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08" name="Text Box 16"/>
            <p:cNvSpPr txBox="1">
              <a:spLocks noChangeArrowheads="1"/>
            </p:cNvSpPr>
            <p:nvPr/>
          </p:nvSpPr>
          <p:spPr bwMode="auto">
            <a:xfrm>
              <a:off x="3146115" y="5387570"/>
              <a:ext cx="5263268" cy="5829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320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五、其他</a:t>
              </a:r>
              <a:endParaRPr kumimoji="1" lang="zh-CN" altLang="en-US" sz="3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576513" y="1773238"/>
            <a:ext cx="54800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3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一、指南响应情况</a:t>
            </a:r>
            <a:endParaRPr kumimoji="1"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185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473950" y="6381750"/>
            <a:ext cx="2311400" cy="476250"/>
          </a:xfrm>
          <a:noFill/>
        </p:spPr>
        <p:txBody>
          <a:bodyPr/>
          <a:lstStyle/>
          <a:p>
            <a:fld id="{1EFA06BE-5C23-49BD-9062-66CA328C257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标题 1"/>
          <p:cNvSpPr txBox="1"/>
          <p:nvPr/>
        </p:nvSpPr>
        <p:spPr bwMode="auto">
          <a:xfrm>
            <a:off x="314325" y="1584325"/>
            <a:ext cx="9375775" cy="5057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l" latinLnBrk="0">
              <a:lnSpc>
                <a:spcPts val="3500"/>
              </a:lnSpc>
              <a:buClrTx/>
              <a:buSzTx/>
              <a:buFontTx/>
            </a:pPr>
            <a:r>
              <a:rPr kumimoji="1" lang="en-US" altLang="zh-CN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播放时间，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严格控制在</a:t>
            </a:r>
            <a:r>
              <a:rPr kumimoji="1" lang="en-US" altLang="zh-CN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分钟以内，重点表述研究内容、技术路线、创新点、成果指标等核心要素；</a:t>
            </a:r>
            <a:r>
              <a:rPr kumimoji="1" lang="en-US" altLang="zh-CN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录音，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建议由</a:t>
            </a:r>
            <a:r>
              <a:rPr kumimoji="1" lang="en-US" altLang="zh-CN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普通话标准、嗓音洪亮</a:t>
            </a:r>
            <a:r>
              <a:rPr kumimoji="1" lang="en-US" altLang="zh-CN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的人录制（不限定由项目负责人本人录音）。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0">
              <a:lnSpc>
                <a:spcPts val="3500"/>
              </a:lnSpc>
              <a:buClrTx/>
              <a:buSzTx/>
              <a:buFontTx/>
            </a:pPr>
            <a:endParaRPr kumimoji="1" lang="zh-CN" altLang="en-US" sz="2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0">
              <a:lnSpc>
                <a:spcPts val="3500"/>
              </a:lnSpc>
              <a:buClrTx/>
              <a:buSzTx/>
              <a:buFontTx/>
            </a:pP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一、指南响应情况。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建议采用列表方式展示。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0">
              <a:lnSpc>
                <a:spcPts val="3500"/>
              </a:lnSpc>
            </a:pP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二、研究内容：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包括技术路线、主要研究内容、难点分析及主要创新点、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基础研究延续性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等，技术路线应通过</a:t>
            </a:r>
            <a:r>
              <a:rPr kumimoji="1" lang="en-US" altLang="zh-CN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简短的一段话</a:t>
            </a:r>
            <a:r>
              <a:rPr kumimoji="1" lang="en-US" altLang="zh-CN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概述。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0">
              <a:lnSpc>
                <a:spcPts val="3500"/>
              </a:lnSpc>
            </a:pP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三、预期成果：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包括可量化的指标、成果应用转化等，上述预期成果应在考核指标中予以明确。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18501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473950" y="6381750"/>
            <a:ext cx="2311400" cy="476250"/>
          </a:xfrm>
          <a:noFill/>
        </p:spPr>
        <p:txBody>
          <a:bodyPr/>
          <a:lstStyle/>
          <a:p>
            <a:fld id="{1EFA06BE-5C23-49BD-9062-66CA328C257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标题 1"/>
          <p:cNvSpPr txBox="1"/>
          <p:nvPr/>
        </p:nvSpPr>
        <p:spPr bwMode="auto">
          <a:xfrm>
            <a:off x="264795" y="1584325"/>
            <a:ext cx="9375775" cy="5057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l" latinLnBrk="0">
              <a:lnSpc>
                <a:spcPts val="3500"/>
              </a:lnSpc>
              <a:buClrTx/>
              <a:buSzTx/>
              <a:buFontTx/>
            </a:pP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四、负责人及团队：</a:t>
            </a:r>
            <a:endParaRPr kumimoji="1" lang="zh-CN" altLang="en-US" sz="2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latinLnBrk="0">
              <a:lnSpc>
                <a:spcPts val="3500"/>
              </a:lnSpc>
            </a:pP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负责人，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列示负责人教育背景、从事专业；完成的相关领域科技项目、论文、奖励等成果，限近5年，最多不超过5项，并标注本人角色、奖励等级（如负责人、第一作者、一等奖等）。如负责人申报的是基础研究类指南，应列示本人承担过的基础研究类项目以及学历学位职称。（基础研究类项目负责人应同时具备以下条件：承担过基础研究课题；具有高级专业技术职称或具有博士学历、学位。）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latinLnBrk="0">
              <a:lnSpc>
                <a:spcPts val="3500"/>
              </a:lnSpc>
            </a:pP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团队，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简述团队研究优势、分工、子课题负责人等。（不需要长篇大论拷贝合作单位基本情况）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latinLnBrk="0">
              <a:lnSpc>
                <a:spcPts val="3500"/>
              </a:lnSpc>
              <a:buClrTx/>
              <a:buSzTx/>
              <a:buFontTx/>
            </a:pP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五、其他。</a:t>
            </a:r>
            <a:r>
              <a:rPr kumimoji="1" lang="zh-CN" altLang="en-US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非必选项，酌情考虑。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18501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473950" y="6381750"/>
            <a:ext cx="2311400" cy="476250"/>
          </a:xfrm>
          <a:noFill/>
        </p:spPr>
        <p:txBody>
          <a:bodyPr/>
          <a:lstStyle/>
          <a:p>
            <a:fld id="{1EFA06BE-5C23-49BD-9062-66CA328C257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标题 1"/>
          <p:cNvSpPr txBox="1"/>
          <p:nvPr/>
        </p:nvSpPr>
        <p:spPr bwMode="auto">
          <a:xfrm>
            <a:off x="264795" y="2828925"/>
            <a:ext cx="9375775" cy="19202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ctr" latinLnBrk="0">
              <a:lnSpc>
                <a:spcPts val="3500"/>
              </a:lnSpc>
              <a:buClrTx/>
              <a:buSzTx/>
              <a:buFontTx/>
            </a:pPr>
            <a:r>
              <a:rPr kumimoji="1" lang="zh-CN" altLang="en-US" sz="6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汇报完毕</a:t>
            </a:r>
            <a:endParaRPr kumimoji="1" lang="zh-CN" altLang="en-US" sz="6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18501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IMING" val="|17"/>
</p:tagLst>
</file>

<file path=ppt/tags/tag2.xml><?xml version="1.0" encoding="utf-8"?>
<p:tagLst xmlns:p="http://schemas.openxmlformats.org/presentationml/2006/main">
  <p:tag name="TIMING" val="|17"/>
</p:tagLst>
</file>

<file path=ppt/tags/tag3.xml><?xml version="1.0" encoding="utf-8"?>
<p:tagLst xmlns:p="http://schemas.openxmlformats.org/presentationml/2006/main">
  <p:tag name="TIMING" val="|17"/>
</p:tagLst>
</file>

<file path=ppt/tags/tag4.xml><?xml version="1.0" encoding="utf-8"?>
<p:tagLst xmlns:p="http://schemas.openxmlformats.org/presentationml/2006/main">
  <p:tag name="TIMING" val="|17"/>
</p:tagLst>
</file>

<file path=ppt/theme/theme1.xml><?xml version="1.0" encoding="utf-8"?>
<a:theme xmlns:a="http://schemas.openxmlformats.org/drawingml/2006/main" name="1_国家电网">
  <a:themeElements>
    <a:clrScheme name="1_国家电网 4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国家电网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rgbClr val="008000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rgbClr val="008000">
              <a:gamma/>
              <a:shade val="60000"/>
              <a:invGamma/>
            </a:srgbClr>
          </a:prstShdw>
        </a:effectLst>
      </a:spPr>
      <a:bodyPr vert="horz" wrap="square" lIns="0" tIns="0" rIns="0" bIns="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44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rgbClr val="008000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rgbClr val="008000">
              <a:gamma/>
              <a:shade val="60000"/>
              <a:invGamma/>
            </a:srgbClr>
          </a:prstShdw>
        </a:effectLst>
      </a:spPr>
      <a:bodyPr vert="horz" wrap="square" lIns="0" tIns="0" rIns="0" bIns="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44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国家电网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6666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国家电网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家电网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家电网 4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国家电网">
  <a:themeElements>
    <a:clrScheme name="1_国家电网 4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国家电网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AF5F6"/>
        </a:solidFill>
        <a:ln w="53975">
          <a:solidFill>
            <a:schemeClr val="hlink"/>
          </a:solidFill>
          <a:round/>
        </a:ln>
        <a:effectLst>
          <a:outerShdw dist="20000" dir="5400000" algn="ctr" rotWithShape="0">
            <a:srgbClr val="000000">
              <a:alpha val="35999"/>
            </a:srgbClr>
          </a:outerShdw>
        </a:effectLst>
      </a:spPr>
      <a:bodyPr wrap="none" lIns="104251" tIns="52125" rIns="104251" bIns="52125" anchor="ctr"/>
      <a:lstStyle>
        <a:defPPr marL="357505" eaLnBrk="0" hangingPunct="0">
          <a:defRPr b="0">
            <a:solidFill>
              <a:srgbClr val="595959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rgbClr val="008000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rgbClr val="008000">
              <a:gamma/>
              <a:shade val="60000"/>
              <a:invGamma/>
            </a:srgbClr>
          </a:prstShdw>
        </a:effectLst>
      </a:spPr>
      <a:bodyPr vert="horz" wrap="square" lIns="0" tIns="0" rIns="0" bIns="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44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国家电网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6666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国家电网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家电网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国家电网 4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WPS 演示</Application>
  <PresentationFormat>A4 纸张(210x297 毫米)</PresentationFormat>
  <Paragraphs>42</Paragraphs>
  <Slides>5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黑体</vt:lpstr>
      <vt:lpstr>微软雅黑</vt:lpstr>
      <vt:lpstr>Arial Unicode MS</vt:lpstr>
      <vt:lpstr>1_国家电网</vt:lpstr>
      <vt:lpstr>2_国家电网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ZhouQY</dc:creator>
  <cp:lastModifiedBy>孔维政</cp:lastModifiedBy>
  <cp:revision>5382</cp:revision>
  <dcterms:created xsi:type="dcterms:W3CDTF">2008-11-29T16:10:00Z</dcterms:created>
  <dcterms:modified xsi:type="dcterms:W3CDTF">2025-12-15T06:26:07Z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2052-11.8.2.9022</vt:lpwstr>
  </property>
  <property fmtid="{D5CDD505-2E9C-101B-9397-08002B2CF9AE}" pid="3" name="ICV">
    <vt:lpwstr>32E23D49B3794E61A8652E0387E74C51_13</vt:lpwstr>
  </property>
</Properties>
</file>